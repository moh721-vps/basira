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53748280c4e13" /><Relationship Type="http://schemas.openxmlformats.org/officeDocument/2006/relationships/extended-properties" Target="/docProps/app.xml" Id="R59fc1ddea28f4121" /><Relationship Type="http://schemas.openxmlformats.org/officeDocument/2006/relationships/officeDocument" Target="/ppt/presentation.xml" Id="Rb49ecf575add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e91ba191eb495c"/>
  </p:sldMasterIdLst>
  <p:notesMasterIdLst>
    <p:notesMasterId xmlns:r="http://schemas.openxmlformats.org/officeDocument/2006/relationships" r:id="R159134f7c2e649c7"/>
  </p:notesMasterIdLst>
  <p:sldIdLst>
    <p:sldId xmlns:r="http://schemas.openxmlformats.org/officeDocument/2006/relationships" id="256" r:id="Rc34ed7b1ace54d4b"/>
    <p:sldId xmlns:r="http://schemas.openxmlformats.org/officeDocument/2006/relationships" id="257" r:id="R4d9d5cb45d90483d"/>
    <p:sldId xmlns:r="http://schemas.openxmlformats.org/officeDocument/2006/relationships" id="258" r:id="R8677699b97fc4e5b"/>
    <p:sldId xmlns:r="http://schemas.openxmlformats.org/officeDocument/2006/relationships" id="259" r:id="R1b55aee0d58f42fb"/>
    <p:sldId xmlns:r="http://schemas.openxmlformats.org/officeDocument/2006/relationships" id="260" r:id="R45aecedba3b243aa"/>
    <p:sldId xmlns:r="http://schemas.openxmlformats.org/officeDocument/2006/relationships" id="261" r:id="Re6c2e55493884a8c"/>
    <p:sldId xmlns:r="http://schemas.openxmlformats.org/officeDocument/2006/relationships" id="262" r:id="R50a8e2fc7fd54104"/>
    <p:sldId xmlns:r="http://schemas.openxmlformats.org/officeDocument/2006/relationships" id="263" r:id="Rf7a3030714934fe4"/>
    <p:sldId xmlns:r="http://schemas.openxmlformats.org/officeDocument/2006/relationships" id="264" r:id="R797e863cfe294041"/>
    <p:sldId xmlns:r="http://schemas.openxmlformats.org/officeDocument/2006/relationships" id="265" r:id="R6171a99fd5034b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c02642ff34a32" /><Relationship Type="http://schemas.openxmlformats.org/officeDocument/2006/relationships/slideMaster" Target="/ppt/slideMasters/slideMaster1.xml" Id="R9be91ba191eb495c" /><Relationship Type="http://schemas.openxmlformats.org/officeDocument/2006/relationships/notesMaster" Target="/ppt/notesMasters/notesMaster1.xml" Id="R159134f7c2e649c7" /><Relationship Type="http://schemas.openxmlformats.org/officeDocument/2006/relationships/presProps" Target="/ppt/presProps.xml" Id="R8bd7e747c307445b" /><Relationship Type="http://schemas.openxmlformats.org/officeDocument/2006/relationships/tableStyles" Target="/ppt/tableStyles.xml" Id="R881474c845844444" /><Relationship Type="http://schemas.openxmlformats.org/officeDocument/2006/relationships/slide" Target="/ppt/slides/slide1.xml" Id="Rc34ed7b1ace54d4b" /><Relationship Type="http://schemas.openxmlformats.org/officeDocument/2006/relationships/slide" Target="/ppt/slides/slide2.xml" Id="R4d9d5cb45d90483d" /><Relationship Type="http://schemas.openxmlformats.org/officeDocument/2006/relationships/slide" Target="/ppt/slides/slide3.xml" Id="R8677699b97fc4e5b" /><Relationship Type="http://schemas.openxmlformats.org/officeDocument/2006/relationships/slide" Target="/ppt/slides/slide4.xml" Id="R1b55aee0d58f42fb" /><Relationship Type="http://schemas.openxmlformats.org/officeDocument/2006/relationships/slide" Target="/ppt/slides/slide5.xml" Id="R45aecedba3b243aa" /><Relationship Type="http://schemas.openxmlformats.org/officeDocument/2006/relationships/slide" Target="/ppt/slides/slide6.xml" Id="Re6c2e55493884a8c" /><Relationship Type="http://schemas.openxmlformats.org/officeDocument/2006/relationships/slide" Target="/ppt/slides/slide7.xml" Id="R50a8e2fc7fd54104" /><Relationship Type="http://schemas.openxmlformats.org/officeDocument/2006/relationships/slide" Target="/ppt/slides/slide8.xml" Id="Rf7a3030714934fe4" /><Relationship Type="http://schemas.openxmlformats.org/officeDocument/2006/relationships/slide" Target="/ppt/slides/slide9.xml" Id="R797e863cfe294041" /><Relationship Type="http://schemas.openxmlformats.org/officeDocument/2006/relationships/slide" Target="/ppt/slides/slide10.xml" Id="R6171a99fd5034b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ada8773c3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2586248014ab4" /><Relationship Type="http://schemas.openxmlformats.org/officeDocument/2006/relationships/notesMaster" Target="/ppt/notesMasters/notesMaster1.xml" Id="Ra33c69759047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faf210ee94fc6" /><Relationship Type="http://schemas.openxmlformats.org/officeDocument/2006/relationships/notesMaster" Target="/ppt/notesMasters/notesMaster1.xml" Id="Rb6b591b42e434d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55591bf434f9d" /><Relationship Type="http://schemas.openxmlformats.org/officeDocument/2006/relationships/notesMaster" Target="/ppt/notesMasters/notesMaster1.xml" Id="R886ccee5b83f45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bdc5f5dd8d44f5" /><Relationship Type="http://schemas.openxmlformats.org/officeDocument/2006/relationships/notesMaster" Target="/ppt/notesMasters/notesMaster1.xml" Id="R40c529774f76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60015c93064229" /><Relationship Type="http://schemas.openxmlformats.org/officeDocument/2006/relationships/notesMaster" Target="/ppt/notesMasters/notesMaster1.xml" Id="Rf31f86d8196d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a538a7f434b62" /><Relationship Type="http://schemas.openxmlformats.org/officeDocument/2006/relationships/notesMaster" Target="/ppt/notesMasters/notesMaster1.xml" Id="R4727159b594148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5cacddf84c4308" /><Relationship Type="http://schemas.openxmlformats.org/officeDocument/2006/relationships/notesMaster" Target="/ppt/notesMasters/notesMaster1.xml" Id="Rd58de697b6f749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1daf110204489e" /><Relationship Type="http://schemas.openxmlformats.org/officeDocument/2006/relationships/notesMaster" Target="/ppt/notesMasters/notesMaster1.xml" Id="Rb0fbdf176ca347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927a4ac4974b9b" /><Relationship Type="http://schemas.openxmlformats.org/officeDocument/2006/relationships/notesMaster" Target="/ppt/notesMasters/notesMaster1.xml" Id="Rea0386a129744d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31aa8363a4de8" /><Relationship Type="http://schemas.openxmlformats.org/officeDocument/2006/relationships/notesMaster" Target="/ppt/notesMasters/notesMaster1.xml" Id="R55d0ed93ddcd40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 محتوى المشروع: README.md وAGENTS.md وSOURCES.md في C:/basira؛ وملف سياق بصيرة الذي أرفقه المستخدم، ومواد التحدي. الحالة مأخوذة من الملفات المتاحة بتاريخ 5 أكتوبر 2026، وليست نتائج قياس مستقل.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حالة التنفيذ بتاريخ 6 أكتوبر 2026. فحوص المطور المحدودة لا تمثل قياساً مستقلاً للدقة. المصادر: README.md وeval/README.md وeval/validation-2026-10-06.md. الكود: https://github.com/Moh721-VPS/basira والتجربة: https://basira.basira-api.workers.dev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حالة التنفيذ بتاريخ 6 أكتوبر 2026. فحوص المطور المحدودة لا تمثل قياساً مستقلاً للدقة. المصادر: README.md وeval/README.md وeval/validation-2026-10-06.md. الكود: https://github.com/Moh721-VPS/basira والتجربة: https://basira.basira-api.workers.dev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حالة التنفيذ بتاريخ 6 أكتوبر 2026. فحوص المطور المحدودة لا تمثل قياساً مستقلاً للدقة. المصادر: README.md وeval/README.md وeval/validation-2026-10-06.md. الكود: https://github.com/Moh721-VPS/basira والتجربة: https://basira.basira-api.workers.dev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251094f94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6150308df432c" /><Relationship Type="http://schemas.openxmlformats.org/officeDocument/2006/relationships/slideLayout" Target="/ppt/slideLayouts/slideLayout1.xml" Id="Rf6c24d9765f4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24d9765f4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73f1e2ff4fed" /><Relationship Type="http://schemas.openxmlformats.org/officeDocument/2006/relationships/notesSlide" Target="/ppt/notesSlides/notesSlide1.xml" Id="R102ce807d45b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1f15af6c4941" /><Relationship Type="http://schemas.openxmlformats.org/officeDocument/2006/relationships/notesSlide" Target="/ppt/notesSlides/notesSlide2.xml" Id="R0304982e548b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be72c5ff646c3" /><Relationship Type="http://schemas.openxmlformats.org/officeDocument/2006/relationships/notesSlide" Target="/ppt/notesSlides/notesSlide3.xml" Id="R9664ca85c8dc49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3bf246684e1d" /><Relationship Type="http://schemas.openxmlformats.org/officeDocument/2006/relationships/notesSlide" Target="/ppt/notesSlides/notesSlide4.xml" Id="Ra391462b6ea9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6a59c77448ed" /><Relationship Type="http://schemas.openxmlformats.org/officeDocument/2006/relationships/notesSlide" Target="/ppt/notesSlides/notesSlide5.xml" Id="Rbf846c9de826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1af1d8a3b494f" /><Relationship Type="http://schemas.openxmlformats.org/officeDocument/2006/relationships/notesSlide" Target="/ppt/notesSlides/notesSlide6.xml" Id="R6079bd3a2c74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c610fbf2f48a7" /><Relationship Type="http://schemas.openxmlformats.org/officeDocument/2006/relationships/notesSlide" Target="/ppt/notesSlides/notesSlide7.xml" Id="R0a1abcebd94743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0c6614c3b470b" /><Relationship Type="http://schemas.openxmlformats.org/officeDocument/2006/relationships/notesSlide" Target="/ppt/notesSlides/notesSlide8.xml" Id="Rd254cea5bc33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e9bd3dcdc4902" /><Relationship Type="http://schemas.openxmlformats.org/officeDocument/2006/relationships/notesSlide" Target="/ppt/notesSlides/notesSlide9.xml" Id="R05d6a2f97bbe45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52b24c59b4875" /><Relationship Type="http://schemas.openxmlformats.org/officeDocument/2006/relationships/notesSlide" Target="/ppt/notesSlides/notesSlide10.xml" Id="Rc648c7ddaccb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82161-FE7B-449D-8805-55F6E74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‫بصيرة‬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6DC94-E701-4F37-A41A-79FFCD1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80D4C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D4C1"/>
                </a:solidFill>
                <a:latin typeface="Arial"/>
                <a:ea typeface="Arial"/>
                <a:cs typeface="Arial"/>
              </a:rPr>
              <a:t>‫التحقق المسند من الادعاءات حول الإسلام‬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1675C-6B2B-4956-BF8D-39A902E7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‫المسار 04‬</a:t>
            </a:r>
          </a:p>
          <a:p xmlns:a="http://schemas.openxmlformats.org/drawingml/2006/main">
            <a:pPr algn="r"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‫أدوات المعرفة والتحقق لتمكين المعرّفين بالإسلام‬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D14F1-9B57-4A5F-81E9-DF813D6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B8C8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CB"/>
                </a:solidFill>
                <a:latin typeface="Arial"/>
                <a:ea typeface="Arial"/>
                <a:cs typeface="Arial"/>
              </a:rPr>
              <a:t>‫01‬</a:t>
            </a:r>
          </a:p>
        </p:txBody>
      </p:sp>
    </p:spTree>
    <p:extLst>
      <p:ext uri="{BB962C8B-B14F-4D97-AF65-F5344CB8AC3E}">
        <p14:creationId xmlns:p14="http://schemas.microsoft.com/office/powerpoint/2010/main" val="1803678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83FCC-F50B-4C46-9179-B27B713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‫المشكلة والمستفيد‬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5C1E-5981-441C-8D88-35E40205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‫الادعاء المتداول يحتاج إلى دليل يمكن تتبعه‬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2DC38-A7E3-41E2-8F22-8B9ACB76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‫يحتاج المعرّفون بالإسلام وصنّاع المحتوى إلى مراجعة النص قبل تداوله.‬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‫تتوزع الأدلة بين مصادر متعددة، ويحتاج العثور على الموضع الداعم إلى بحث.‬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‫الإجابة المقنعة وحدها لا تثبت صحة الادعاء أو صحة نسبته.‬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3483B-FAF8-49C9-87C2-544E811B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‫02‬</a:t>
            </a:r>
          </a:p>
        </p:txBody>
      </p:sp>
    </p:spTree>
    <p:extLst>
      <p:ext uri="{BB962C8B-B14F-4D97-AF65-F5344CB8AC3E}">
        <p14:creationId xmlns:p14="http://schemas.microsoft.com/office/powerpoint/2010/main" val="484313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E0B0A-1305-4123-BD5F-B24BE58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‫الحل‬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FA9ED-345F-45D2-9A80-A7BCF38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‫حالة واضحة لكل ادعاء، مع الدليل المتاح‬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A9562-ECE5-47AC-A071-2C6332B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‫مؤيَّد بمصدر: الأدلة تدعم جميع أجزاء الادعاء مباشرة.‬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‫يحتاج مزيداً من التحقق: الأدلة ناقصة أو جزئية أو غير حاسمة.‬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‫يُحال إلى مختص: الطلب يحتاج إلى حكم شخصي أو تفسير تخصصي.‬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F5D4C-D618-46E7-9845-EE7D8044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‫03‬</a:t>
            </a:r>
          </a:p>
        </p:txBody>
      </p:sp>
    </p:spTree>
    <p:extLst>
      <p:ext uri="{BB962C8B-B14F-4D97-AF65-F5344CB8AC3E}">
        <p14:creationId xmlns:p14="http://schemas.microsoft.com/office/powerpoint/2010/main" val="1410323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C3231-0DD4-4506-8FC8-A946EC8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‫رحلة المستفيد‬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36926-A609-40FE-931B-2019313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‫لصق النص ثم مراجعة النتيجة والمصدر‬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9DEE7-073A-4031-A7F7-17C0F2DF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‫يدخل المستفيد النص باللغة العربية أو الإنجليزية.‬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‫يعرض التطبيق الادعاءات المستقلة وحالة كل منها.‬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‫عندما يتوفر الدليل، يظهر المقطع المسترجع ورابط المصدر.‬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‫يراجع المستفيد المصدر ويستعين بالمختص عند الحاجة.‬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361A4-9B86-4583-AFF5-7894DE9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‫04‬</a:t>
            </a:r>
          </a:p>
        </p:txBody>
      </p:sp>
    </p:spTree>
    <p:extLst>
      <p:ext uri="{BB962C8B-B14F-4D97-AF65-F5344CB8AC3E}">
        <p14:creationId xmlns:p14="http://schemas.microsoft.com/office/powerpoint/2010/main" val="310745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5EB4D-4152-44A0-AFC4-8E26150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‫آلية العمل‬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18FAD-90D2-4E27-B21E-A587DE3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‫مسار تحقق يعتمد على الأدلة المسترجعة‬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590E7-4062-480A-AF02-20B5488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‫١  تقسيم النص إلى ادعاءات مستقلة، بحد أقصى خمسة.‬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‫٢  إحالة الطلبات التي تحتاج إلى مختص قبل الاسترجاع.‬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‫٣  البحث في المصادر المعتمدة وجلب النص الكامل.‬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‫٤  فحص دلالة النص المسترجع وإرجاع معرّفات الأدلة.‬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‫٥  تطبيق الضوابط البرمجية وعرض الحالة والمصدر.‬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8AA47-395D-4FA3-9CEE-2B5B38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‫05‬</a:t>
            </a:r>
          </a:p>
        </p:txBody>
      </p:sp>
    </p:spTree>
    <p:extLst>
      <p:ext uri="{BB962C8B-B14F-4D97-AF65-F5344CB8AC3E}">
        <p14:creationId xmlns:p14="http://schemas.microsoft.com/office/powerpoint/2010/main" val="1199006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AE3A-20F3-40E7-B86D-57727DD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‫دور الذكاء الاصطناعي‬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746E8-03ED-40E1-B271-5ACB0C3B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‫استخراج الادعاءات وفحص دلالة الأدلة‬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AE9B1-84AA-4CAC-AD6A-7B09832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‫يستخدم النموذج النص المسترجع للحكم على دعم الادعاء.‬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‫تعيد مرحلة التحقق حكماً منظماً ومعرّفات الأدلة وأكواد النقص.‬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‫يربط الخادم المعرّفات بروابط حقيقية من المصادر.‬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‫الضوابط تفحص المخرجات؛ صحة المطابقة الدلالية تحتاج إلى تقييم مستقل.‬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357E7-F1ED-41D6-ACFC-D453678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‫06‬</a:t>
            </a:r>
          </a:p>
        </p:txBody>
      </p:sp>
    </p:spTree>
    <p:extLst>
      <p:ext uri="{BB962C8B-B14F-4D97-AF65-F5344CB8AC3E}">
        <p14:creationId xmlns:p14="http://schemas.microsoft.com/office/powerpoint/2010/main" val="1594450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75A12-B121-4A2E-A8EF-3A6E7750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‫المصادر والضوابط‬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271B-A363-41AE-9681-A6C8164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‫إسناد قابل للتتبع وحدود واضحة‬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1DA54-5A61-4BC9-A3A1-8B9A028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‫الاسترجاع عبر بوابة المحتوى الإسلامي ومصادرها المعتمدة.‬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‫المصادر تشمل موسوعة الأحاديث وترجمات القرآن ومواد إسلام هاوس.‬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‫لا تأييد دون أدلة صالحة، ولا تأييد لدعم جزئي.‬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‫درجة الحديث تأتي من المصدر. لا فتاوى أو أحكام شخصية.‬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‫تعطل الخدمة يظهر كخطأ مستقل عن نقص الأدلة.‬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AD5D3-B7D5-4F88-97DF-4861B8E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‫07‬</a:t>
            </a:r>
          </a:p>
        </p:txBody>
      </p:sp>
    </p:spTree>
    <p:extLst>
      <p:ext uri="{BB962C8B-B14F-4D97-AF65-F5344CB8AC3E}">
        <p14:creationId xmlns:p14="http://schemas.microsoft.com/office/powerpoint/2010/main" val="1648941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4A2B8-DC07-4553-8854-CB2BC533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‫التنفيذ الحالي‬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03C0-01B2-419A-BF0A-8F53E75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‫تطبيق منشور بالعربية والإنجليزية‬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8BA3E-5C08-4FEE-A3D8-0270E17A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‫واجهة ويب مناسبة للهاتف، مع أمثلة وتقارير قابلة للتنزيل.‬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‫تسترجع النصوص فعلياً وتعرض مصادرها وعددها للفحص.‬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‫يربط الخادم الدليل بالمصدر، ويعرض النص المسترجع دون إعادة صياغة.‬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‫فحوص آلية للضوابط، وفحوص تشغيل حقيقي موثقة.‬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‫مزود النموذج واحد حالياً، وقد تتعطل الخدمات أو تبلغ حصتها.‬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9BDB-0FF3-4C8D-953D-3A9D3FA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‫08‬</a:t>
            </a:r>
          </a:p>
        </p:txBody>
      </p:sp>
    </p:spTree>
    <p:extLst>
      <p:ext uri="{BB962C8B-B14F-4D97-AF65-F5344CB8AC3E}">
        <p14:creationId xmlns:p14="http://schemas.microsoft.com/office/powerpoint/2010/main" val="360376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5A14-B7C7-467F-887E-E9B1254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‫فحوص التشغيل وخطة التقييم‬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216C5-FE8F-489B-8C09-030647C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6746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461"/>
                </a:solidFill>
                <a:latin typeface="Arial"/>
                <a:ea typeface="Arial"/>
                <a:cs typeface="Arial"/>
              </a:rPr>
              <a:t>‫نتائج تشغيل محدودة، وتقييم مستقل مخطط‬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1CDBE-C8A6-4191-A59E-7C4391E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‫فُحصت سبع حالات تشغيل، بالعربية والإنجليزية، في جولتين.‬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‫أنتجت الحالتان السلبيتان امتناعاً، والأسئلة الشخصية إحالة.‬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‫لم يظهر تأييد خاطئ للحالات السلبية، ورُصد تعطل خدمة في أحد الطلبات.‬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‫امتنع النموذج في ثلاثة فحوص بأدلة اصطناعية، منها تعليمات خبيثة.‬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‫مجموعة الأربعين ادعاءً والمقارنة البشرية لم تكتمل، ولا ندعي نسبة دقة.‬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9F121-ED98-477C-ACBE-3B9CA62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4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B"/>
                </a:solidFill>
                <a:latin typeface="Arial"/>
                <a:ea typeface="Arial"/>
                <a:cs typeface="Arial"/>
              </a:rPr>
              <a:t>‫09‬</a:t>
            </a:r>
          </a:p>
        </p:txBody>
      </p:sp>
    </p:spTree>
    <p:extLst>
      <p:ext uri="{BB962C8B-B14F-4D97-AF65-F5344CB8AC3E}">
        <p14:creationId xmlns:p14="http://schemas.microsoft.com/office/powerpoint/2010/main" val="393472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4EBC0-FE1B-47F5-8BCD-35C6CF0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‫التجربة والكود‬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A5F3D-7230-4705-8356-F40D84D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80D4C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D4C1"/>
                </a:solidFill>
                <a:latin typeface="Arial"/>
                <a:ea typeface="Arial"/>
                <a:cs typeface="Arial"/>
              </a:rPr>
              <a:t>‫نسخة حية وكود متاح للمراجعة‬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FA41-3103-49F1-A3AA-C9ACBB7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‫التجربة المباشرة‬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‫https://basira.basira-api.workers.dev‬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‫الكود المصدري‬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‫https://github.com/Moh721-VPS/basira‬</a:t>
            </a:r>
          </a:p>
          <a:p xmlns:a="http://schemas.openxmlformats.org/drawingml/2006/main">
            <a:pPr algn="r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‫يلزم إرفاق رابط فيديو توضيحي لا يتجاوز دقيقتين.‬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4EB4-0C39-40BB-902B-7EF6391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B8C8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CB"/>
                </a:solidFill>
                <a:latin typeface="Arial"/>
                <a:ea typeface="Arial"/>
                <a:cs typeface="Arial"/>
              </a:rPr>
              <a:t>‫10‬</a:t>
            </a:r>
          </a:p>
        </p:txBody>
      </p:sp>
    </p:spTree>
    <p:extLst>
      <p:ext uri="{BB962C8B-B14F-4D97-AF65-F5344CB8AC3E}">
        <p14:creationId xmlns:p14="http://schemas.microsoft.com/office/powerpoint/2010/main" val="190836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2026-10-06T15:23:32.8520000Z</dcterms:created>
  <dcterms:modified xsi:type="dcterms:W3CDTF">2026-10-06T15:23:32.8520000Z</dcterms:modified>
</coreProperties>
</file>